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5e557740c04f98" /><Relationship Type="http://schemas.openxmlformats.org/officeDocument/2006/relationships/extended-properties" Target="/docProps/app.xml" Id="R1645602418744b09" /><Relationship Type="http://schemas.openxmlformats.org/officeDocument/2006/relationships/officeDocument" Target="/ppt/presentation.xml" Id="Rb3d529ebee4a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b58248cdd349d4"/>
  </p:sldMasterIdLst>
  <p:notesMasterIdLst>
    <p:notesMasterId xmlns:r="http://schemas.openxmlformats.org/officeDocument/2006/relationships" r:id="R232e3a3e63fc4675"/>
  </p:notesMasterIdLst>
  <p:sldIdLst>
    <p:sldId xmlns:r="http://schemas.openxmlformats.org/officeDocument/2006/relationships" id="256" r:id="Rb6f44053c5d84ca8"/>
    <p:sldId xmlns:r="http://schemas.openxmlformats.org/officeDocument/2006/relationships" id="257" r:id="Ra92eb0e8409243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ab9d52244b4a63" /><Relationship Type="http://schemas.openxmlformats.org/officeDocument/2006/relationships/slideMaster" Target="/ppt/slideMasters/slideMaster1.xml" Id="R2eb58248cdd349d4" /><Relationship Type="http://schemas.openxmlformats.org/officeDocument/2006/relationships/notesMaster" Target="/ppt/notesMasters/notesMaster1.xml" Id="R232e3a3e63fc4675" /><Relationship Type="http://schemas.openxmlformats.org/officeDocument/2006/relationships/presProps" Target="/ppt/presProps.xml" Id="R5cea013fd1a74cef" /><Relationship Type="http://schemas.openxmlformats.org/officeDocument/2006/relationships/tableStyles" Target="/ppt/tableStyles.xml" Id="R80bd7c7752274b66" /><Relationship Type="http://schemas.openxmlformats.org/officeDocument/2006/relationships/slide" Target="/ppt/slides/slide1.xml" Id="Rb6f44053c5d84ca8" /><Relationship Type="http://schemas.openxmlformats.org/officeDocument/2006/relationships/slide" Target="/ppt/slides/slide2.xml" Id="Ra92eb0e8409243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463a4335c944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970c07cb114f9d" /><Relationship Type="http://schemas.openxmlformats.org/officeDocument/2006/relationships/notesMaster" Target="/ppt/notesMasters/notesMaster1.xml" Id="R6473771b796a4f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2c0762fe58484e" /><Relationship Type="http://schemas.openxmlformats.org/officeDocument/2006/relationships/notesMaster" Target="/ppt/notesMasters/notesMaster1.xml" Id="Rc30e32fe6d6c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说明：迁移的是算法进化闭环与搜索控制机制，不将离散组合优化函数原样用于连续光学参数优化。外层候选为可执行控制策略，内层由团队优化器调用已校准的光学仿真。可调整优化代理目标，但用户验收条件固定。材料中的光学实现是迁移方案，仓库当前未发现光学问题注册与仿真接口。</a:t>
            </a:r>
          </a:p>
          <a:p xmlns:a="http://schemas.openxmlformats.org/drawingml/2006/main">
            <a:r>
              <a:t>代码依据：eoh_rag/experiments/eoh_single_runner.py:887 调用 build_official_rag_context；rag_context_builder.py:312 构造检索、重排与历史卡门禁；pool_api.py 共享策略池；hooks.py:45 与 batch_runner 的等价内联回流；evaluator.py:49 的单目标基线判定需扩展为光学硬约束加性能评价。eoh_rag/search_control/tsp_controller.py 的原语白名单、加权预算与停止条件提供控制器迁移切入点。</a:t>
            </a:r>
          </a:p>
          <a:p xmlns:a="http://schemas.openxmlformats.org/drawingml/2006/main">
            <a:r>
              <a:t>项目证据：reports/strategy_experiments/q3_v2/q3_report.md，10 个 seed 三臂配对，answer 对 pure 7/0/3，按预设规则 directional_support。reports/strategy_experiments/cross_problem_transfer/cross_report.md，9/15 完整配对，结论 inconclusive。上述结果均非光学效果。</a:t>
            </a:r>
          </a:p>
          <a:p xmlns:a="http://schemas.openxmlformats.org/drawingml/2006/main">
            <a:r>
              <a:t>[1] Liu et al., Evolution of Heuristics, ICML 2024. https://arxiv.org/abs/2401.02051</a:t>
            </a:r>
          </a:p>
          <a:p xmlns:a="http://schemas.openxmlformats.org/drawingml/2006/main">
            <a:r>
              <a:t>[2] Yang et al., Curriculum learning for ab initio deep learned refractive optics, Nature Communications 15,6572 (2024). https://www.nature.com/articles/s41467-024-50835-7</a:t>
            </a:r>
          </a:p>
          <a:p xmlns:a="http://schemas.openxmlformats.org/drawingml/2006/main">
            <a:r>
              <a:t>[3] Geng et al., OPTIAGENT: A Physics-Driven Agentic Framework for Automated Optical Design, arXiv preprint, 27 Feb 2026. https://arxiv.org/abs/2602.23761</a:t>
            </a:r>
          </a:p>
          <a:p xmlns:a="http://schemas.openxmlformats.org/drawingml/2006/main">
            <a:r>
              <a:t>检索日期：2026-09-06。参考用户 PPT 第 2、4、6、9 页的团队程序路线、优化与验收区分、阶段性实现设定。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流程为迁移设计，浅蓝表示复用机制，不表示全部光学语料与策略已实现。浅橙表示新增光学领域接口。首期使用给定初始结构与团队光学计算程序，不使用 Zemax。</a:t>
            </a:r>
          </a:p>
          <a:p xmlns:a="http://schemas.openxmlformats.org/drawingml/2006/main">
            <a:r>
              <a:t>模块映射：任务输入扩展 problem_registry.py / eoh_runner/registry.py 与问题规格；检索扩展 rag_context_builder.py 的问题词表与 API 约束卡，复用 PoolAPI 父代/精英读取；策略生成复用官方 EoH 与 eoh_single_runner.py；控制校验参考 search_control/tsp_controller.py 的白名单和预算机制；新增光学运行器，把候选控制策略接到团队优化器、仿真和指标提取；光学验收器扩展 evaluator.py 的现有单标量判定，不将当前 archive 判定直接当作光学达标。RunTracker、共享池与卡片合成用于结果留痕和回流。</a:t>
            </a:r>
          </a:p>
          <a:p xmlns:a="http://schemas.openxmlformats.org/drawingml/2006/main">
            <a:r>
              <a:t>数值内循环位于节点 3：优化器更新曲率、厚度、间距等参数，仿真返回目标与约束，再执行下一次数值迭代。外循环位于节点 1–5：根据实测表现选择/进化优化策略。最终验收固定波长、视场、采样条件与指标阈值，避免代理目标改善但真实性能不改善。仿真接口应先用已知设计校准。</a:t>
            </a:r>
          </a:p>
          <a:p xmlns:a="http://schemas.openxmlformats.org/drawingml/2006/main">
            <a:r>
              <a:t>实验建议属于拟开展方案：在同一光学任务集、初始结构与仿真预算下，比较固定优化流程与大模型控制流程的达标率、性能和计算成本。不能以当前组合优化基准的改善率推断光学收益。后续再接入初始结构库与建模回退。参考用户 PPT 第 2、6、7、9 页，图形与内容按当前代码重新组织。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40d7b4a9449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29223ba7cb4ce1" /><Relationship Type="http://schemas.openxmlformats.org/officeDocument/2006/relationships/slideLayout" Target="/ppt/slideLayouts/slideLayout1.xml" Id="Rd741e5539ee044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1e5539ee044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686da6c3c46a7" /><Relationship Type="http://schemas.openxmlformats.org/officeDocument/2006/relationships/notesSlide" Target="/ppt/notesSlides/notesSlide1.xml" Id="R4366ef361f03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cb070a9b14c51" /><Relationship Type="http://schemas.openxmlformats.org/officeDocument/2006/relationships/notesSlide" Target="/ppt/notesSlides/notesSlide2.xml" Id="Ra6114e906ca74f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F455F-A44A-42DD-AAD9-72BD54A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大模型算法优化迁移到光学设计的原理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58B52-EB76-4A68-8597-D7F3CFE7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迁移核心：进化“如何优化”的策略，由团队程序计算光学性能并判定结果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665D3-FE80-4522-A8DE-68A627E4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60319-9F86-47A7-9F9C-A245D3E0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双层优化闭环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0114F-1D6F-45C4-8818-9B398368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外层：大模型进化优化策略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F98DD-F250-4E90-BA00-3C7DCF64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检索文献与历史卡片，结合父代策略生成候选控制程序。</a:t>
            </a:r>
          </a:p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搜索算法组合、变量开放顺序、阶段目标和计算预算。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6AEDA-BE56-4952-BDDC-151FD284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内层：数值算法求解光学参数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85B5C-185E-403C-8B00-52DBAA81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81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候选策略调用团队优化器与光学仿真，更新曲率、厚度等</a:t>
            </a:r>
          </a:p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参数。按固定验收条件计算 MTF、波前 RMS 与约束偏差。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164C0-DE95-46D7-B938-9BF1C152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7627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5A1CF-0498-4218-B6CE-EF96744A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6819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评价与记忆：有效候选参与选优，结果回流下一轮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7A0D0-B4DF-453B-9E8E-057F7A9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6800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比较同等预算下的达标率与性能，保存优胜策略和失败原因。</a:t>
            </a:r>
          </a:p>
          <a:p xmlns:a="http://schemas.openxmlformats.org/drawingml/2006/main">
            <a:pPr algn="l">
              <a:defRPr sz="16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先迁移受约束的搜索控制器，再扩展初始结构生成与建模。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C041C-112E-4B7B-9953-0CF2C49F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24025"/>
            <a:ext cx="12383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380EA-A33C-499B-91B9-92B4C2E9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6573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相关研究进展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02157-B3B3-4006-A170-01656E89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EoH · ICML 2024 [1]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82173-3603-4845-9C56-5603A039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43175"/>
            <a:ext cx="352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联合进化算法思路与代码，</a:t>
            </a:r>
          </a:p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以实际评测筛选启发式算法。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04440-359A-4029-BE85-756EDFCA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DeepLens · 2024 [2]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C68FE-073E-4292-8007-733DDB45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95700"/>
            <a:ext cx="352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可微光线追迹结合课程学习，</a:t>
            </a:r>
          </a:p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实现从随机曲面起步的透镜设计。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9CC69-A1C1-458C-BFB5-09B2E1C4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86275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OPTIAGENT · 2026 预印本 [3]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BF7C7-41F5-45AF-98C6-06F337BE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48225"/>
            <a:ext cx="3571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用光学数据与物理奖励训练 LLM，</a:t>
            </a:r>
          </a:p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并衔接专用优化流程精修设计。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DF786-D449-41E9-ACD4-A225513E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87B13-FE7B-4EEC-8CC9-3D0914C3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项目现状：已具备 RAG、共享种群与搜索控制器。策略卡实验获方向性支持（10 组中 7 胜）。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7DC85-CCFB-4C3E-8B79-5636A57D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rPr>
              <a:t>跨问题迁移尚无确定结论，光学接口与效果仍待验证。研究来源 [1]–[3] 及代码依据见备注。</a:t>
            </a:r>
          </a:p>
        </p:txBody>
      </p:sp>
    </p:spTree>
    <p:extLst>
      <p:ext uri="{BB962C8B-B14F-4D97-AF65-F5344CB8AC3E}">
        <p14:creationId xmlns:p14="http://schemas.microsoft.com/office/powerpoint/2010/main" val="553163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7CF27D-84D2-4949-A616-DBD4895F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基于 auto-algo-opt 的光学设计优化流程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3FE27-0B20-45FE-B196-03452E11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浅蓝：复用现有框架机制　　浅橙：新增光学适配　　首期采用给定初始结构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69765-C5BE-4AD3-97F9-A9FD568D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5457B-94A7-439C-A170-D9F79B93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71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B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FF24D-DE36-4E24-A393-44A36C66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7486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rPr>
              <a:t>光学任务与初始结构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3349A-EFE6-4DD3-9969-436ED359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7486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992E5-9458-4E4D-9571-04E1D2CB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737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固定验收指标、参数边界与仿真预算，注册光学问题和工具接口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D888A-4976-49EF-8116-ABC3E04E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419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5DCD9-1D08-4D59-9FAE-F28AFB1D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设计与策略归档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DEB73-C241-43D3-B845-BEE8CAA9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24075"/>
            <a:ext cx="219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C194A-14D8-4AF1-944C-75C594DD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结构参数、指标、策略版本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80F3A-4E42-4496-A1D7-068AA6F3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003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A2E0F-BF08-4E03-8C8A-8866F47C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1  检索与父代选择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D7092-4110-4265-BAB9-FF6DB69C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光学知识与历史卡片</a:t>
            </a:r>
          </a:p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共享池选择优胜策略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AB886-B03D-4CC4-9570-4C065621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4003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AB959-1025-450C-BFC1-463FA0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2  生成候选策略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85BD7-700C-401D-BBE4-85FD2CF9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43275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LLM 改写搜索控制器</a:t>
            </a:r>
          </a:p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校验接口、动作与预算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63139-33E2-471C-9BEC-0EE8D486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4003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B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859C6-DEED-42C2-8B1A-15BA05BF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rPr>
              <a:t>3  执行光学优化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5A5E7-6A9C-4A9E-9258-3C624A38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团队优化器调用仿真</a:t>
            </a:r>
          </a:p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更新参数并返回指标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7731A-326E-47BB-A7A5-51F2D4E6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4003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B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45773-4FDB-4A02-9A3F-C8BDE7A1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rPr>
              <a:t>4  验收与选优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28D4F-EA83-4435-B564-2371C1C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43275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硬约束先行，逐项验收</a:t>
            </a:r>
          </a:p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同预算比较质量与耗时</a:t>
            </a:r>
          </a:p>
        </p:txBody>
      </p:sp>
      <p:cxnSp>
        <p:nvCxnSpPr>
          <p:cNvPr id="63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1809750" y="2352675"/>
            <a:ext cx="2657475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09900" y="353853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353853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724900" y="353853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1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10372725" y="2352675"/>
            <a:ext cx="9525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CEB88C-371A-44AE-8CA0-29E194AC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6697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达标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77E6C-1ECD-4118-8558-3D9721D7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57750"/>
            <a:ext cx="5257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7B0F8-7056-4028-9B7E-8575C781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72050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5  轨迹记录与经验回流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0203E9-2A41-43E2-ABC6-440D3942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43525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保存策略、结构、指标变化、预算消耗及失败原因</a:t>
            </a:r>
          </a:p>
        </p:txBody>
      </p:sp>
      <p:cxnSp>
        <p:nvCxnSpPr>
          <p:cNvPr id="72" name=""/>
          <p:cNvCxnSpPr>
            <a:stCxn xmlns:a="http://schemas.openxmlformats.org/drawingml/2006/main" id="21" idx="2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8724900" y="4219575"/>
            <a:ext cx="1657350" cy="11144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10CE46-B44F-4C87-B2A9-16C8ECA7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476750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未达标且预算剩余</a:t>
            </a:r>
          </a:p>
        </p:txBody>
      </p:sp>
      <p:cxnSp>
        <p:nvCxnSpPr>
          <p:cNvPr id="74" name=""/>
          <p:cNvCxnSpPr>
            <a:stCxn xmlns:a="http://schemas.openxmlformats.org/drawingml/2006/main" id="30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1809750" y="4219575"/>
            <a:ext cx="1657350" cy="111442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0F7823-FB1F-4C65-9FEB-A6C57BC6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选优入池，历史卡回流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ADD7F7-C046-4082-9956-C54824B4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9531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停滞时调整算法、变量开放顺序或重启设置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FC3EE1-3DB7-4CBC-AF79-DE9C90A2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205BBC-E3A0-41AE-A968-800217F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68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rPr>
              <a:t>首期落地：接入团队仿真与指标适配器，对照固定优化流程。预算耗尽则输出未达标项与最佳可行结果。</a:t>
            </a:r>
          </a:p>
        </p:txBody>
      </p:sp>
    </p:spTree>
    <p:extLst>
      <p:ext uri="{BB962C8B-B14F-4D97-AF65-F5344CB8AC3E}">
        <p14:creationId xmlns:p14="http://schemas.microsoft.com/office/powerpoint/2010/main" val="985822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2026-09-06T15:50:41.9290000Z</dcterms:created>
  <dcterms:modified xsi:type="dcterms:W3CDTF">2026-09-06T15:50:41.9290000Z</dcterms:modified>
</coreProperties>
</file>