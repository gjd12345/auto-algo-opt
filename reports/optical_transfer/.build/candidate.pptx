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1cf5e504754a4b" /><Relationship Type="http://schemas.openxmlformats.org/officeDocument/2006/relationships/extended-properties" Target="/docProps/app.xml" Id="R02fe88cdade04cf1" /><Relationship Type="http://schemas.openxmlformats.org/officeDocument/2006/relationships/officeDocument" Target="/ppt/presentation.xml" Id="R402894e42583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1afea52424348"/>
  </p:sldMasterIdLst>
  <p:notesMasterIdLst>
    <p:notesMasterId xmlns:r="http://schemas.openxmlformats.org/officeDocument/2006/relationships" r:id="Rc8e0081f0a124f06"/>
  </p:notesMasterIdLst>
  <p:sldIdLst>
    <p:sldId xmlns:r="http://schemas.openxmlformats.org/officeDocument/2006/relationships" id="256" r:id="R23223422c8e54e78"/>
    <p:sldId xmlns:r="http://schemas.openxmlformats.org/officeDocument/2006/relationships" id="257" r:id="Ra2830770ad5846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6a15954fd49fb" /><Relationship Type="http://schemas.openxmlformats.org/officeDocument/2006/relationships/slideMaster" Target="/ppt/slideMasters/slideMaster1.xml" Id="Rdab1afea52424348" /><Relationship Type="http://schemas.openxmlformats.org/officeDocument/2006/relationships/notesMaster" Target="/ppt/notesMasters/notesMaster1.xml" Id="Rc8e0081f0a124f06" /><Relationship Type="http://schemas.openxmlformats.org/officeDocument/2006/relationships/presProps" Target="/ppt/presProps.xml" Id="R318dccfcbb48419d" /><Relationship Type="http://schemas.openxmlformats.org/officeDocument/2006/relationships/tableStyles" Target="/ppt/tableStyles.xml" Id="Rdd5acbd1247546f2" /><Relationship Type="http://schemas.openxmlformats.org/officeDocument/2006/relationships/slide" Target="/ppt/slides/slide1.xml" Id="R23223422c8e54e78" /><Relationship Type="http://schemas.openxmlformats.org/officeDocument/2006/relationships/slide" Target="/ppt/slides/slide2.xml" Id="Ra2830770ad58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02fc5e70d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727ec66694068" /><Relationship Type="http://schemas.openxmlformats.org/officeDocument/2006/relationships/notesMaster" Target="/ppt/notesMasters/notesMaster1.xml" Id="R47abbee1cead4f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4c0ee37bc42ca" /><Relationship Type="http://schemas.openxmlformats.org/officeDocument/2006/relationships/notesMaster" Target="/ppt/notesMasters/notesMaster1.xml" Id="R63573a532c9646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说明：迁移的是算法进化闭环与搜索控制机制，不将离散组合优化函数原样用于连续光学参数优化。外层候选为可执行控制策略，内层由团队优化器调用已校准的光学仿真。可调整优化代理目标，但用户验收条件固定。材料中的光学实现是迁移方案，仓库当前未发现光学问题注册与仿真接口。</a:t>
            </a:r>
          </a:p>
          <a:p xmlns:a="http://schemas.openxmlformats.org/drawingml/2006/main">
            <a:r>
              <a:t>代码依据：eoh_rag/experiments/eoh_single_runner.py:887 调用 build_official_rag_context；rag_context_builder.py:312 构造检索、重排与历史卡门禁；pool_api.py 共享策略池；hooks.py:45 与 batch_runner 的等价内联回流；evaluator.py:49 的单目标基线判定需扩展为光学硬约束加性能评价。eoh_rag/search_control/tsp_controller.py 的原语白名单、加权预算与停止条件提供控制器迁移切入点。</a:t>
            </a:r>
          </a:p>
          <a:p xmlns:a="http://schemas.openxmlformats.org/drawingml/2006/main">
            <a:r>
              <a:t>项目证据：reports/strategy_experiments/q3_v2/q3_report.md，10 个 seed 三臂配对，answer 对 pure 7/0/3，按预设规则 directional_support。reports/strategy_experiments/cross_problem_transfer/cross_report.md，9/15 完整配对，结论 inconclusive。上述结果均非光学效果。</a:t>
            </a:r>
          </a:p>
          <a:p xmlns:a="http://schemas.openxmlformats.org/drawingml/2006/main">
            <a:r>
              <a:t>[1] Liu et al., Evolution of Heuristics, ICML 2024. https://arxiv.org/abs/2401.02051</a:t>
            </a:r>
          </a:p>
          <a:p xmlns:a="http://schemas.openxmlformats.org/drawingml/2006/main">
            <a:r>
              <a:t>[2] Yang et al., Curriculum learning for ab initio deep learned refractive optics, Nature Communications 15,6572 (2024). https://www.nature.com/articles/s41467-024-50835-7</a:t>
            </a:r>
          </a:p>
          <a:p xmlns:a="http://schemas.openxmlformats.org/drawingml/2006/main">
            <a:r>
              <a:t>[3] Geng et al., OPTIAGENT: A Physics-Driven Agentic Framework for Automated Optical Design, arXiv preprint, 27 Feb 2026. https://arxiv.org/abs/2602.23761</a:t>
            </a:r>
          </a:p>
          <a:p xmlns:a="http://schemas.openxmlformats.org/drawingml/2006/main">
            <a:r>
              <a:t>检索日期：2026-09-06。参考用户 PPT 第 2、4、6、9 页的团队程序路线、优化与验收区分、阶段性实现设定。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流程为迁移设计，浅蓝表示复用机制，不表示全部光学语料与策略已实现。浅橙表示新增光学领域接口。首期使用给定初始结构与团队光学计算程序，不使用 Zemax。</a:t>
            </a:r>
          </a:p>
          <a:p xmlns:a="http://schemas.openxmlformats.org/drawingml/2006/main">
            <a:r>
              <a:t>模块映射：任务输入扩展 problem_registry.py / eoh_runner/registry.py 与问题规格；检索扩展 rag_context_builder.py 的问题词表与 API 约束卡，复用 PoolAPI 父代/精英读取；策略生成复用官方 EoH 与 eoh_single_runner.py；控制校验参考 search_control/tsp_controller.py 的白名单和预算机制；新增光学运行器，把候选控制策略接到团队优化器、仿真和指标提取；光学验收器扩展 evaluator.py 的现有单标量判定，不将当前 archive 判定直接当作光学达标。RunTracker、共享池与卡片合成用于结果留痕和回流。</a:t>
            </a:r>
          </a:p>
          <a:p xmlns:a="http://schemas.openxmlformats.org/drawingml/2006/main">
            <a:r>
              <a:t>数值内循环位于节点 3：优化器更新曲率、厚度、间距等参数，仿真返回目标与约束，再执行下一次数值迭代。外循环位于节点 1–5：根据实测表现选择/进化优化策略。最终验收固定波长、视场、采样条件与指标阈值，避免代理目标改善但真实性能不改善。仿真接口应先用已知设计校准。</a:t>
            </a:r>
          </a:p>
          <a:p xmlns:a="http://schemas.openxmlformats.org/drawingml/2006/main">
            <a:r>
              <a:t>实验建议属于拟开展方案：在同一光学任务集、初始结构与仿真预算下，比较固定优化流程与大模型控制流程的达标率、性能和计算成本。不能以当前组合优化基准的改善率推断光学收益。后续再接入初始结构库与建模回退。参考用户 PPT 第 2、6、7、9 页，图形与内容按当前代码重新组织。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49e70798a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816ffb2e13495d" /><Relationship Type="http://schemas.openxmlformats.org/officeDocument/2006/relationships/slideLayout" Target="/ppt/slideLayouts/slideLayout1.xml" Id="Rd92a6bd0239f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2a6bd0239f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9d7aa71804c22" /><Relationship Type="http://schemas.openxmlformats.org/officeDocument/2006/relationships/notesSlide" Target="/ppt/notesSlides/notesSlide1.xml" Id="Rbc4daa1d2249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1df658b6546f9" /><Relationship Type="http://schemas.openxmlformats.org/officeDocument/2006/relationships/notesSlide" Target="/ppt/notesSlides/notesSlide2.xml" Id="Rea1f08d6570e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A8B33-48D2-4A63-B13D-1EC3196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大模型算法优化迁移到光学设计的原理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C109E-E930-442A-9309-8A9A245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迁移核心：进化“如何优化”的策略，由团队程序计算光学性能并判定结果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A881D-3CA8-4AC6-BF73-63089707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B08EB-BC42-4CFD-B2FA-0205F6F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双层优化闭环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719E4-FEFC-4C39-819F-1F89E1E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外层：大模型进化优化策略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F88C3-7DCB-4223-957C-5155FEF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检索文献与历史卡片，结合父代策略生成候选控制程序。</a:t>
            </a:r>
          </a:p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搜索算法组合、变量开放顺序、阶段目标和计算预算。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48032-DF3C-41D3-BBF3-7263FEB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内层：数值算法求解光学参数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6A504-FA4F-44CA-B5FE-6E1155A1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81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候选策略调用团队优化器与光学仿真，更新曲率、厚度等</a:t>
            </a:r>
          </a:p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参数。按固定验收条件计算 MTF、波前 RMS 与约束偏差。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26F58-A19E-4D34-9893-AC45313A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762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E00B2-EEE8-4845-A890-94CA7C8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6819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评价与记忆：有效候选参与选优，结果回流下一轮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99C41-EFF8-4823-9A02-76A5C6F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6800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比较同等预算下的达标率与性能，保存优胜策略和失败原因。</a:t>
            </a:r>
          </a:p>
          <a:p xmlns:a="http://schemas.openxmlformats.org/drawingml/2006/main">
            <a:pPr algn="l">
              <a:def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先迁移受约束的搜索控制器，再扩展初始结构生成与建模。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C40B3-B1F2-4786-916F-3A0294A8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24025"/>
            <a:ext cx="12383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51463-B1D6-4434-AABD-23651B0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573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相关研究进展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9F871-8F32-420D-9206-4C8A72C2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81225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EoH · ICML 2024 [1]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CC948-271D-4B6A-898D-F30E102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43175"/>
            <a:ext cx="352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联合进化算法思路与代码，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以实际评测筛选启发式算法。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F2E2F-E7EA-4427-B305-A0500D20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352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DeepLens · 2024 [2]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6EE18-A5A0-484C-9DB5-C6D88E0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95700"/>
            <a:ext cx="352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可微光线追迹结合课程学习，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实现从随机曲面起步的透镜设计。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0F6F5-9619-4636-899A-A4827210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86275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OPTIAGENT · 2026 预印本 [3]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AA688-B3B2-4D0B-AFBB-D79E5E36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3571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用光学数据与物理奖励训练 LLM，</a:t>
            </a:r>
          </a:p>
          <a:p xmlns:a="http://schemas.openxmlformats.org/drawingml/2006/main">
            <a:pPr algn="l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并衔接专用优化流程精修设计。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7F391-382A-48D3-BEDE-492FE5E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79A28-629F-442B-A60E-D1192ED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项目现状：已具备 RAG、共享种群与搜索控制器。策略卡实验获方向性支持（10 组中 7 胜）。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0348A-C76B-41CD-A84E-5AA207A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跨问题迁移尚无确定结论，光学接口与效果仍待验证。研究来源 [1]–[3] 及代码依据见备注。</a:t>
            </a:r>
          </a:p>
        </p:txBody>
      </p:sp>
    </p:spTree>
    <p:extLst>
      <p:ext uri="{BB962C8B-B14F-4D97-AF65-F5344CB8AC3E}">
        <p14:creationId xmlns:p14="http://schemas.microsoft.com/office/powerpoint/2010/main" val="2072505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7E3DB2-13C7-4CF1-9E5B-094DFF6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基于 auto-algo-opt 的光学设计优化流程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75DEF-B55D-4B7D-90A6-5D76FE6F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浅蓝：复用现有框架机制　　浅橙：新增光学适配　　首期采用给定初始结构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BB53-DF15-4324-9CB3-5F50A25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B2256-9CE5-4631-92E5-1805AE2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71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D55DD-AECA-4D64-8C68-B2963D9A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7486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光学任务与初始结构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53F2-6890-406E-A8B7-D2EDA48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7486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1E96B-94CB-4F24-9999-3F62CA1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37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固定验收指标、参数边界与仿真预算，注册光学问题和工具接口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69B87-439A-4D38-BB18-135C196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4193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E2E8A-82BA-45EE-8871-5C6226DB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设计与策略归档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8AD97-80A9-4A40-B591-9533B811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24075"/>
            <a:ext cx="219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812CF-6F3C-4E07-8982-A4B403D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结构参数、指标、策略版本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139AC-3620-415C-BC56-DA61852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04313-39F4-4E20-9323-3D522867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1  检索与父代选择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518F6-1B6A-40C1-B96C-47302EDE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光学知识与历史卡片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共享池选择优胜策略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9ADA4-BE87-4D1F-82BB-4F7D06A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A85C9-2A07-4429-9D36-599787E4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2  生成候选策略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8DB2F-1AC9-4C0C-950B-9C18D44E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LLM 改写搜索控制器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校验接口、动作与预算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6958D-65E2-43E1-9686-7CE4C1B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7C52D-3435-46B9-A989-62B76AE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3  执行光学优化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18C6A-FBB1-4200-A133-1D91AA8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团队优化器调用仿真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更新参数并返回指标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DD042-9318-4131-9D96-5CA7A66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4003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B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B0933-535C-496E-AD95-FA5CA5BA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A6424"/>
                </a:solidFill>
                <a:latin typeface="Microsoft YaHei"/>
                <a:ea typeface="Microsoft YaHei"/>
                <a:cs typeface="Microsoft YaHei"/>
              </a:rPr>
              <a:t>4  验收与选优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B66B6-6FFA-467E-B1FC-260D2F4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43275"/>
            <a:ext cx="2171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硬约束先行，逐项验收</a:t>
            </a:r>
          </a:p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同预算比较质量与耗时</a:t>
            </a:r>
          </a:p>
        </p:txBody>
      </p:sp>
      <p:cxnSp>
        <p:nvCxnSpPr>
          <p:cNvPr id="63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809750" y="2352675"/>
            <a:ext cx="2657475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099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24900" y="353853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0372725" y="2352675"/>
            <a:ext cx="9525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EF4BC-0ABA-46A9-8360-2BEF7E8C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6697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达标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7CF16-D9E9-40D0-A02B-5F2B624E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5257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206C2-EE65-4A9F-A394-5F0DAF6D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72050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5  轨迹记录与经验回流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B79D8-1A8E-4C25-AD18-6A5D2DF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43525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652"/>
                </a:solidFill>
                <a:latin typeface="Microsoft YaHei"/>
                <a:ea typeface="Microsoft YaHei"/>
                <a:cs typeface="Microsoft YaHei"/>
              </a:rPr>
              <a:t>保存策略、结构、指标变化、预算消耗及失败原因</a:t>
            </a:r>
          </a:p>
        </p:txBody>
      </p:sp>
      <p:cxnSp>
        <p:nvCxnSpPr>
          <p:cNvPr id="72" name=""/>
          <p:cNvCxnSpPr>
            <a:stCxn xmlns:a="http://schemas.openxmlformats.org/drawingml/2006/main" id="21" idx="2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8724900" y="4219575"/>
            <a:ext cx="1657350" cy="11144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CE75A-5A0C-42CD-871A-75106FE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410075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未达标且</a:t>
            </a:r>
          </a:p>
          <a:p xmlns:a="http://schemas.openxmlformats.org/drawingml/2006/main">
            <a:pPr algn="l">
              <a:def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预算剩余</a:t>
            </a:r>
          </a:p>
        </p:txBody>
      </p:sp>
      <p:cxnSp>
        <p:nvCxnSpPr>
          <p:cNvPr id="74" name=""/>
          <p:cNvCxnSpPr>
            <a:stCxn xmlns:a="http://schemas.openxmlformats.org/drawingml/2006/main" id="30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1809750" y="4219575"/>
            <a:ext cx="1657350" cy="11144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0878D"/>
            </a:solidFill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EB4617-9181-46F6-B742-5A17800B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878D"/>
                </a:solidFill>
                <a:latin typeface="Microsoft YaHei"/>
                <a:ea typeface="Microsoft YaHei"/>
                <a:cs typeface="Microsoft YaHei"/>
              </a:rPr>
              <a:t>选优入池，历史卡回流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21AAC-1399-484E-8BA8-39B59FC9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531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313F"/>
                </a:solidFill>
                <a:latin typeface="Microsoft YaHei"/>
                <a:ea typeface="Microsoft YaHei"/>
                <a:cs typeface="Microsoft YaHei"/>
              </a:rPr>
              <a:t>停滞时调整算法、变量开放顺序或重启设置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F729C-E4AC-4B7D-A67C-3789685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444480-3810-408F-8E2E-D6DCBFC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687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84"/>
                </a:solidFill>
                <a:latin typeface="Microsoft YaHei"/>
                <a:ea typeface="Microsoft YaHei"/>
                <a:cs typeface="Microsoft YaHei"/>
              </a:rPr>
              <a:t>首期落地：接入团队仿真与指标适配器，对照固定优化流程。预算耗尽则输出未达标项与最佳可行结果。</a:t>
            </a:r>
          </a:p>
        </p:txBody>
      </p:sp>
    </p:spTree>
    <p:extLst>
      <p:ext uri="{BB962C8B-B14F-4D97-AF65-F5344CB8AC3E}">
        <p14:creationId xmlns:p14="http://schemas.microsoft.com/office/powerpoint/2010/main" val="1260557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2026-09-06T15:51:48.9520000Z</dcterms:created>
  <dcterms:modified xsi:type="dcterms:W3CDTF">2026-09-06T15:51:48.9520000Z</dcterms:modified>
</coreProperties>
</file>